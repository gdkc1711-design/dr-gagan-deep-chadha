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57" r:id="rId3"/>
    <p:sldId id="258" r:id="rId4"/>
    <p:sldId id="259" r:id="rId5"/>
    <p:sldId id="260" r:id="rId6"/>
    <p:sldId id="261" r:id="rId7"/>
    <p:sldId id="262" r:id="rId8"/>
    <p:sldId id="270" r:id="rId9"/>
    <p:sldId id="263" r:id="rId10"/>
    <p:sldId id="264" r:id="rId11"/>
    <p:sldId id="265" r:id="rId12"/>
    <p:sldId id="266" r:id="rId13"/>
  </p:sldIdLst>
  <p:sldSz cx="9144000" cy="5143500" type="screen16x9"/>
  <p:notesSz cx="5143500" cy="9144000"/>
  <p:custDataLst>
    <p:tags r:id="rId15"/>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666"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48843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3743605"/>
            <a:ext cx="3475712" cy="50109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4221642" y="4296187"/>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4804533" y="4578123"/>
            <a:ext cx="2598320"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DR GAGAN DEEP CHADHA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3816736" y="4259498"/>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2628833" y="4341881"/>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2566486" y="4461904"/>
            <a:ext cx="2272871" cy="740395"/>
          </a:xfrm>
          <a:prstGeom prst="rect">
            <a:avLst/>
          </a:prstGeom>
        </p:spPr>
        <p:txBody>
          <a:bodyPr lIns="0" tIns="0" rIns="0" bIns="0" rtlCol="0" anchor="t">
            <a:spAutoFit/>
          </a:bodyPr>
          <a:lstStyle/>
          <a:p>
            <a:pPr>
              <a:lnSpc>
                <a:spcPts val="2038"/>
              </a:lnSpc>
            </a:pPr>
            <a:r>
              <a:rPr lang="en-US" sz="1100" b="1" dirty="0">
                <a:solidFill>
                  <a:srgbClr val="0D358D"/>
                </a:solidFill>
                <a:effectLst/>
                <a:latin typeface="Arial" panose="020B0604020202020204" pitchFamily="34" charset="0"/>
                <a:ea typeface="Aileron Bold"/>
              </a:rPr>
              <a:t>drgagandeep.nationalpgcollege@npgc.in</a:t>
            </a:r>
            <a:endParaRPr lang="en-IN" sz="1100" dirty="0">
              <a:effectLst/>
              <a:latin typeface="Arial" panose="020B0604020202020204" pitchFamily="34" charset="0"/>
              <a:ea typeface="Arial" panose="020B0604020202020204" pitchFamily="34" charset="0"/>
            </a:endParaRP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141340" y="42356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MAHESHWARI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graphicFrame>
        <p:nvGraphicFramePr>
          <p:cNvPr id="26" name="Table 25">
            <a:extLst>
              <a:ext uri="{FF2B5EF4-FFF2-40B4-BE49-F238E27FC236}">
                <a16:creationId xmlns:a16="http://schemas.microsoft.com/office/drawing/2014/main" id="{C81DED0E-8121-4A62-5E99-A69B8B50AA1B}"/>
              </a:ext>
            </a:extLst>
          </p:cNvPr>
          <p:cNvGraphicFramePr>
            <a:graphicFrameLocks noGrp="1"/>
          </p:cNvGraphicFramePr>
          <p:nvPr>
            <p:extLst>
              <p:ext uri="{D42A27DB-BD31-4B8C-83A1-F6EECF244321}">
                <p14:modId xmlns:p14="http://schemas.microsoft.com/office/powerpoint/2010/main" val="277701128"/>
              </p:ext>
            </p:extLst>
          </p:nvPr>
        </p:nvGraphicFramePr>
        <p:xfrm>
          <a:off x="4663" y="3463064"/>
          <a:ext cx="5810293" cy="822960"/>
        </p:xfrm>
        <a:graphic>
          <a:graphicData uri="http://schemas.openxmlformats.org/drawingml/2006/table">
            <a:tbl>
              <a:tblPr>
                <a:tableStyleId>{2D5ABB26-0587-4C30-8999-92F81FD0307C}</a:tableStyleId>
              </a:tblPr>
              <a:tblGrid>
                <a:gridCol w="5810293">
                  <a:extLst>
                    <a:ext uri="{9D8B030D-6E8A-4147-A177-3AD203B41FA5}">
                      <a16:colId xmlns:a16="http://schemas.microsoft.com/office/drawing/2014/main" val="3438802165"/>
                    </a:ext>
                  </a:extLst>
                </a:gridCol>
              </a:tblGrid>
              <a:tr h="522042">
                <a:tc>
                  <a:txBody>
                    <a:bodyPr/>
                    <a:lstStyle/>
                    <a:p>
                      <a:pPr algn="ctr"/>
                      <a:r>
                        <a:rPr lang="en-IN" sz="1400" b="1" kern="1200" dirty="0">
                          <a:solidFill>
                            <a:srgbClr val="0D358D"/>
                          </a:solidFill>
                          <a:latin typeface="Arial" panose="020B0604020202020204" pitchFamily="34" charset="0"/>
                          <a:cs typeface="Arial" panose="020B0604020202020204" pitchFamily="34" charset="0"/>
                        </a:rPr>
                        <a:t>Project Title- </a:t>
                      </a:r>
                      <a:r>
                        <a:rPr lang="en-IN" sz="1600" b="1" kern="1200" dirty="0">
                          <a:solidFill>
                            <a:schemeClr val="tx1"/>
                          </a:solidFill>
                          <a:effectLst/>
                          <a:latin typeface="+mn-lt"/>
                          <a:ea typeface="+mn-ea"/>
                          <a:cs typeface="+mn-cs"/>
                        </a:rPr>
                        <a:t>WORKWISE:AI-POWERED FACULTY WORKLOAD INTELLIGENCE</a:t>
                      </a:r>
                      <a:endParaRPr lang="en-IN" sz="1600" kern="1200" dirty="0">
                        <a:solidFill>
                          <a:schemeClr val="tx1"/>
                        </a:solidFill>
                        <a:effectLst/>
                        <a:latin typeface="+mn-lt"/>
                        <a:ea typeface="+mn-ea"/>
                        <a:cs typeface="+mn-cs"/>
                      </a:endParaRPr>
                    </a:p>
                    <a:p>
                      <a:pPr algn="ctr"/>
                      <a:r>
                        <a:rPr lang="en-IN" sz="1600" b="1" kern="1200" dirty="0">
                          <a:solidFill>
                            <a:schemeClr val="tx1"/>
                          </a:solidFill>
                          <a:effectLst/>
                          <a:latin typeface="+mn-lt"/>
                          <a:ea typeface="+mn-ea"/>
                          <a:cs typeface="+mn-cs"/>
                        </a:rPr>
                        <a:t>Faculty Workload &amp; Time Allocation Assistant</a:t>
                      </a:r>
                      <a:endParaRPr lang="en-IN" sz="1600" b="1" kern="1200" dirty="0">
                        <a:solidFill>
                          <a:srgbClr val="0D358D"/>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41395308"/>
                  </a:ext>
                </a:extLst>
              </a:tr>
            </a:tbl>
          </a:graphicData>
        </a:graphic>
      </p:graphicFrame>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259080" y="1082801"/>
            <a:ext cx="5715693" cy="3970318"/>
          </a:xfrm>
          <a:prstGeom prst="rect">
            <a:avLst/>
          </a:prstGeom>
          <a:noFill/>
        </p:spPr>
        <p:txBody>
          <a:bodyPr wrap="square">
            <a:spAutoFit/>
          </a:bodyPr>
          <a:lstStyle/>
          <a:p>
            <a:r>
              <a:rPr lang="en-GB" sz="1200" b="1" dirty="0">
                <a:highlight>
                  <a:srgbClr val="FFFF00"/>
                </a:highlight>
              </a:rPr>
              <a:t>Objective &amp; Purpose:</a:t>
            </a:r>
            <a:br>
              <a:rPr lang="en-GB" sz="1200" dirty="0"/>
            </a:br>
            <a:r>
              <a:rPr lang="en-GB" sz="1200" dirty="0"/>
              <a:t>To </a:t>
            </a:r>
            <a:r>
              <a:rPr lang="en-GB" sz="1200" dirty="0" err="1"/>
              <a:t>analyze</a:t>
            </a:r>
            <a:r>
              <a:rPr lang="en-GB" sz="1200" dirty="0"/>
              <a:t> faculty workload using a structured, data-driven approach, ensuring fair distribution and improved efficiency in academic institution.</a:t>
            </a:r>
          </a:p>
          <a:p>
            <a:r>
              <a:rPr lang="en-GB" sz="1200" b="1" dirty="0">
                <a:highlight>
                  <a:srgbClr val="FFFF00"/>
                </a:highlight>
              </a:rPr>
              <a:t>Tools &amp; Technologies Used:</a:t>
            </a:r>
            <a:br>
              <a:rPr lang="en-GB" sz="1200" dirty="0"/>
            </a:br>
            <a:r>
              <a:rPr lang="en-GB" sz="1200" dirty="0"/>
              <a:t>Microsoft Excel (data cleaning &amp; calculations), Power BI (dashboard &amp; visualization), Microsoft </a:t>
            </a:r>
            <a:r>
              <a:rPr lang="en-GB" sz="1200" dirty="0" err="1"/>
              <a:t>Copilot</a:t>
            </a:r>
            <a:r>
              <a:rPr lang="en-GB" sz="1200" dirty="0"/>
              <a:t> (AI-based insights and summaries). Record of 50 teachers taken of higher education in </a:t>
            </a:r>
            <a:r>
              <a:rPr lang="en-GB" sz="1200" dirty="0" err="1"/>
              <a:t>lucknow</a:t>
            </a:r>
            <a:r>
              <a:rPr lang="en-GB" sz="1200" dirty="0"/>
              <a:t> , UP</a:t>
            </a:r>
          </a:p>
          <a:p>
            <a:r>
              <a:rPr lang="en-GB" sz="1200" b="1" dirty="0">
                <a:highlight>
                  <a:srgbClr val="FFFF00"/>
                </a:highlight>
              </a:rPr>
              <a:t>Methodology :</a:t>
            </a:r>
            <a:br>
              <a:rPr lang="en-GB" sz="1200" dirty="0"/>
            </a:br>
            <a:r>
              <a:rPr lang="en-GB" sz="1200" dirty="0"/>
              <a:t>Data collection → Data cleaning → Workload calculation → Visualization → AI-based analysis</a:t>
            </a:r>
          </a:p>
          <a:p>
            <a:r>
              <a:rPr lang="en-GB" sz="1200" b="1" dirty="0">
                <a:highlight>
                  <a:srgbClr val="FFFF00"/>
                </a:highlight>
              </a:rPr>
              <a:t>Expected Outcomes:</a:t>
            </a:r>
            <a:endParaRPr lang="en-GB" sz="1200" dirty="0">
              <a:highlight>
                <a:srgbClr val="FFFF00"/>
              </a:highlight>
            </a:endParaRPr>
          </a:p>
          <a:p>
            <a:pPr marL="171450" indent="-171450">
              <a:buFont typeface="Wingdings" panose="05000000000000000000" pitchFamily="2" charset="2"/>
              <a:buChar char="v"/>
            </a:pPr>
            <a:r>
              <a:rPr lang="en-GB" sz="1200" dirty="0"/>
              <a:t>Identification of workload imbalance </a:t>
            </a:r>
          </a:p>
          <a:p>
            <a:pPr marL="171450" indent="-171450">
              <a:buFont typeface="Wingdings" panose="05000000000000000000" pitchFamily="2" charset="2"/>
              <a:buChar char="v"/>
            </a:pPr>
            <a:r>
              <a:rPr lang="en-GB" sz="1200" dirty="0"/>
              <a:t>Clear visualization through dashboards </a:t>
            </a:r>
          </a:p>
          <a:p>
            <a:pPr marL="171450" indent="-171450">
              <a:buFont typeface="Wingdings" panose="05000000000000000000" pitchFamily="2" charset="2"/>
              <a:buChar char="v"/>
            </a:pPr>
            <a:r>
              <a:rPr lang="en-GB" sz="1200" dirty="0"/>
              <a:t>Data-driven decision-making support </a:t>
            </a:r>
          </a:p>
          <a:p>
            <a:endParaRPr lang="en-GB" sz="1200" dirty="0"/>
          </a:p>
          <a:p>
            <a:r>
              <a:rPr lang="en-GB" sz="1200" dirty="0"/>
              <a:t> </a:t>
            </a:r>
            <a:r>
              <a:rPr lang="en-GB" sz="1200" b="1" dirty="0">
                <a:highlight>
                  <a:srgbClr val="FFFF00"/>
                </a:highlight>
              </a:rPr>
              <a:t>Key Highlights</a:t>
            </a:r>
            <a:r>
              <a:rPr lang="en-GB" sz="1200" b="1" dirty="0"/>
              <a:t>:</a:t>
            </a:r>
            <a:endParaRPr lang="en-GB" sz="1200" dirty="0"/>
          </a:p>
          <a:p>
            <a:pPr marL="171450" indent="-171450">
              <a:buFont typeface="Wingdings" panose="05000000000000000000" pitchFamily="2" charset="2"/>
              <a:buChar char="ü"/>
            </a:pPr>
            <a:r>
              <a:rPr lang="en-GB" sz="1200" dirty="0"/>
              <a:t>Multi-parameter workload analysis (teaching, research, admin, etc.) </a:t>
            </a:r>
          </a:p>
          <a:p>
            <a:pPr marL="171450" indent="-171450">
              <a:buFont typeface="Wingdings" panose="05000000000000000000" pitchFamily="2" charset="2"/>
              <a:buChar char="ü"/>
            </a:pPr>
            <a:r>
              <a:rPr lang="en-GB" sz="1200" dirty="0"/>
              <a:t>AI integration for automated insights </a:t>
            </a:r>
          </a:p>
          <a:p>
            <a:pPr marL="171450" indent="-171450">
              <a:buFont typeface="Wingdings" panose="05000000000000000000" pitchFamily="2" charset="2"/>
              <a:buChar char="ü"/>
            </a:pPr>
            <a:r>
              <a:rPr lang="en-GB" sz="1200" dirty="0"/>
              <a:t>Interactive Power BI dashboard </a:t>
            </a:r>
          </a:p>
          <a:p>
            <a:pPr marL="171450" indent="-171450">
              <a:buFont typeface="Wingdings" panose="05000000000000000000" pitchFamily="2" charset="2"/>
              <a:buChar char="ü"/>
            </a:pPr>
            <a:r>
              <a:rPr lang="en-GB" sz="1200" dirty="0"/>
              <a:t>Scalable and real-world applicable solution</a:t>
            </a:r>
          </a:p>
          <a:p>
            <a:pPr marL="228600" indent="-228600">
              <a:spcAft>
                <a:spcPts val="800"/>
              </a:spcAft>
              <a:buFont typeface="Arial" panose="020B0604020202020204" pitchFamily="34" charset="0"/>
              <a:buChar char="•"/>
              <a:tabLst>
                <a:tab pos="4229100" algn="ctr"/>
              </a:tabLst>
            </a:pPr>
            <a:endParaRPr lang="en-US" sz="12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5517024" cy="3970318"/>
          </a:xfrm>
          <a:prstGeom prst="rect">
            <a:avLst/>
          </a:prstGeom>
          <a:noFill/>
        </p:spPr>
        <p:txBody>
          <a:bodyPr wrap="square">
            <a:spAutoFit/>
          </a:bodyPr>
          <a:lstStyle/>
          <a:p>
            <a:r>
              <a:rPr lang="en-GB" sz="1200" b="1" dirty="0">
                <a:highlight>
                  <a:srgbClr val="FFFF00"/>
                </a:highlight>
                <a:latin typeface="+mj-lt"/>
              </a:rPr>
              <a:t>Core Problem:</a:t>
            </a:r>
            <a:br>
              <a:rPr lang="en-GB" sz="1200" dirty="0">
                <a:latin typeface="+mj-lt"/>
              </a:rPr>
            </a:br>
            <a:r>
              <a:rPr lang="en-GB" sz="1200" dirty="0">
                <a:latin typeface="+mj-lt"/>
              </a:rPr>
              <a:t>Faculty workload management in academic institutions is often unstructured and lacks proper tracking of all responsibilities beyond teaching, leading to inaccurate workload distribution.</a:t>
            </a:r>
          </a:p>
          <a:p>
            <a:r>
              <a:rPr lang="en-GB" sz="1200" dirty="0">
                <a:latin typeface="+mj-lt"/>
              </a:rPr>
              <a:t>• </a:t>
            </a:r>
            <a:r>
              <a:rPr lang="en-GB" sz="1200" b="1" dirty="0">
                <a:highlight>
                  <a:srgbClr val="FFFF00"/>
                </a:highlight>
                <a:latin typeface="+mj-lt"/>
              </a:rPr>
              <a:t>Why It Is Significant:</a:t>
            </a:r>
            <a:br>
              <a:rPr lang="en-GB" sz="1200" dirty="0">
                <a:latin typeface="+mj-lt"/>
              </a:rPr>
            </a:br>
            <a:r>
              <a:rPr lang="en-GB" sz="1200" dirty="0">
                <a:latin typeface="+mj-lt"/>
              </a:rPr>
              <a:t>Imbalanced workload can result in faculty burnout, reduced teaching quality, and decreased research productivity, ultimately affecting overall institutional performance.</a:t>
            </a:r>
          </a:p>
          <a:p>
            <a:r>
              <a:rPr lang="en-GB" sz="1200" dirty="0">
                <a:latin typeface="+mj-lt"/>
              </a:rPr>
              <a:t>• </a:t>
            </a:r>
            <a:r>
              <a:rPr lang="en-GB" sz="1200" b="1" dirty="0">
                <a:highlight>
                  <a:srgbClr val="FFFF00"/>
                </a:highlight>
                <a:latin typeface="+mj-lt"/>
              </a:rPr>
              <a:t>Who Is Affected:</a:t>
            </a:r>
            <a:br>
              <a:rPr lang="en-GB" sz="1200" dirty="0">
                <a:latin typeface="+mj-lt"/>
              </a:rPr>
            </a:br>
            <a:r>
              <a:rPr lang="en-GB" sz="1200" dirty="0">
                <a:latin typeface="+mj-lt"/>
              </a:rPr>
              <a:t>Faculty members, academic administrators, and students are directly impacted due to inefficient workload allocation and lack of transparency.</a:t>
            </a:r>
          </a:p>
          <a:p>
            <a:r>
              <a:rPr lang="en-GB" sz="1200" dirty="0">
                <a:latin typeface="+mj-lt"/>
              </a:rPr>
              <a:t>• </a:t>
            </a:r>
            <a:r>
              <a:rPr lang="en-GB" sz="1200" b="1" dirty="0">
                <a:highlight>
                  <a:srgbClr val="FFFF00"/>
                </a:highlight>
                <a:latin typeface="+mj-lt"/>
              </a:rPr>
              <a:t>Limitations of Existing Approaches:</a:t>
            </a:r>
            <a:endParaRPr lang="en-GB" sz="1200" dirty="0">
              <a:highlight>
                <a:srgbClr val="FFFF00"/>
              </a:highlight>
              <a:latin typeface="+mj-lt"/>
            </a:endParaRPr>
          </a:p>
          <a:p>
            <a:pPr marL="171450" indent="-171450">
              <a:buFont typeface="Wingdings" panose="05000000000000000000" pitchFamily="2" charset="2"/>
              <a:buChar char="v"/>
            </a:pPr>
            <a:r>
              <a:rPr lang="en-GB" sz="1200" dirty="0">
                <a:latin typeface="+mj-lt"/>
              </a:rPr>
              <a:t>Focus mainly on teaching hours </a:t>
            </a:r>
          </a:p>
          <a:p>
            <a:pPr marL="171450" indent="-171450">
              <a:buFont typeface="Wingdings" panose="05000000000000000000" pitchFamily="2" charset="2"/>
              <a:buChar char="v"/>
            </a:pPr>
            <a:r>
              <a:rPr lang="en-GB" sz="1200" dirty="0">
                <a:latin typeface="+mj-lt"/>
              </a:rPr>
              <a:t>Lack of comprehensive workload tracking </a:t>
            </a:r>
          </a:p>
          <a:p>
            <a:pPr marL="171450" indent="-171450">
              <a:buFont typeface="Wingdings" panose="05000000000000000000" pitchFamily="2" charset="2"/>
              <a:buChar char="v"/>
            </a:pPr>
            <a:r>
              <a:rPr lang="en-GB" sz="1200" dirty="0">
                <a:latin typeface="+mj-lt"/>
              </a:rPr>
              <a:t>Manual and non-standardized processes </a:t>
            </a:r>
          </a:p>
          <a:p>
            <a:pPr marL="171450" indent="-171450">
              <a:buFont typeface="Wingdings" panose="05000000000000000000" pitchFamily="2" charset="2"/>
              <a:buChar char="v"/>
            </a:pPr>
            <a:r>
              <a:rPr lang="en-GB" sz="1200" dirty="0">
                <a:latin typeface="+mj-lt"/>
              </a:rPr>
              <a:t>No use of data analytics or AI for insights </a:t>
            </a:r>
          </a:p>
          <a:p>
            <a:endParaRPr lang="en-GB" sz="1200" dirty="0">
              <a:highlight>
                <a:srgbClr val="FFFF00"/>
              </a:highlight>
              <a:latin typeface="+mj-lt"/>
            </a:endParaRPr>
          </a:p>
          <a:p>
            <a:r>
              <a:rPr lang="en-GB" sz="1200" b="1" dirty="0">
                <a:highlight>
                  <a:srgbClr val="FFFF00"/>
                </a:highlight>
                <a:latin typeface="+mj-lt"/>
              </a:rPr>
              <a:t>Scope &amp; Boundaries:</a:t>
            </a:r>
            <a:br>
              <a:rPr lang="en-GB" sz="1200" dirty="0">
                <a:latin typeface="+mj-lt"/>
              </a:rPr>
            </a:br>
            <a:r>
              <a:rPr lang="en-GB" sz="1200" dirty="0">
                <a:latin typeface="+mj-lt"/>
              </a:rPr>
              <a:t>The project focuses on </a:t>
            </a:r>
            <a:r>
              <a:rPr lang="en-GB" sz="1200" dirty="0" err="1">
                <a:latin typeface="+mj-lt"/>
              </a:rPr>
              <a:t>analyzing</a:t>
            </a:r>
            <a:r>
              <a:rPr lang="en-GB" sz="1200" dirty="0">
                <a:latin typeface="+mj-lt"/>
              </a:rPr>
              <a:t> faculty workload using a structured dataset with tools like Excel, Power BI, and </a:t>
            </a:r>
            <a:r>
              <a:rPr lang="en-GB" sz="1200" dirty="0" err="1">
                <a:latin typeface="+mj-lt"/>
              </a:rPr>
              <a:t>Copilot</a:t>
            </a:r>
            <a:r>
              <a:rPr lang="en-GB" sz="1200" dirty="0">
                <a:latin typeface="+mj-lt"/>
              </a:rPr>
              <a:t>. It is limited to descriptive analysis and does not include real-time systems or predictive </a:t>
            </a:r>
            <a:r>
              <a:rPr lang="en-GB" sz="1200" dirty="0" err="1">
                <a:latin typeface="+mj-lt"/>
              </a:rPr>
              <a:t>modeling</a:t>
            </a:r>
            <a:r>
              <a:rPr lang="en-GB" sz="1200" dirty="0">
                <a:latin typeface="+mj-lt"/>
              </a:rPr>
              <a:t>.</a:t>
            </a:r>
          </a:p>
          <a:p>
            <a:pPr>
              <a:spcAft>
                <a:spcPts val="800"/>
              </a:spcAft>
              <a:tabLst>
                <a:tab pos="4229100" algn="ctr"/>
              </a:tabLst>
            </a:pPr>
            <a:r>
              <a:rPr lang="en-US" sz="1200" dirty="0">
                <a:latin typeface="+mj-lt"/>
                <a:ea typeface="+mn-lt"/>
                <a:cs typeface="Arial" panose="020B0604020202020204" pitchFamily="34" charset="0"/>
              </a:rPr>
              <a:t>.</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74720"/>
          </a:xfrm>
          <a:prstGeom prst="rect">
            <a:avLst/>
          </a:prstGeom>
          <a:noFill/>
          <a:ln/>
        </p:spPr>
        <p:txBody>
          <a:bodyPr wrap="square" rtlCol="0" anchor="t"/>
          <a:lstStyle/>
          <a:p>
            <a:pPr marL="0" indent="0">
              <a:buNone/>
            </a:pPr>
            <a:r>
              <a:rPr lang="en-GB" sz="1200" dirty="0"/>
              <a:t>The project proposes a data-driven faculty workload analysis system </a:t>
            </a:r>
            <a:r>
              <a:rPr lang="en-GB" sz="1200" b="1" dirty="0"/>
              <a:t>designed to address the challenges of unstructured and inefficient workload management in academic institution</a:t>
            </a:r>
            <a:r>
              <a:rPr lang="en-GB" sz="1200" dirty="0"/>
              <a:t>. This solution captures multiple workload parameters such as teaching, research, administrative duties, mentoring, and evaluation, and transforms them into meaningful insights for better decision-making. </a:t>
            </a:r>
          </a:p>
          <a:p>
            <a:pPr marL="0" indent="0">
              <a:buNone/>
            </a:pPr>
            <a:r>
              <a:rPr lang="en-GB" sz="1200" dirty="0"/>
              <a:t>The approach follows </a:t>
            </a:r>
            <a:r>
              <a:rPr lang="en-GB" sz="1200" b="1" dirty="0"/>
              <a:t>a structured methodology </a:t>
            </a:r>
            <a:r>
              <a:rPr lang="en-GB" sz="1200" dirty="0"/>
              <a:t>that includes data collection, data cleaning </a:t>
            </a:r>
            <a:r>
              <a:rPr lang="en-GB" sz="1200" b="1" dirty="0"/>
              <a:t>using Microsoft Excel, workload calculation through formulas, data analysis using pivot tables, visualization through Power BI dashboards, and AI-assisted insight generation using Microsoft </a:t>
            </a:r>
            <a:r>
              <a:rPr lang="en-GB" sz="1200" b="1" dirty="0" err="1"/>
              <a:t>Copilot</a:t>
            </a:r>
            <a:r>
              <a:rPr lang="en-GB" sz="1200" b="1" dirty="0"/>
              <a:t>.</a:t>
            </a:r>
          </a:p>
          <a:p>
            <a:pPr marL="0" indent="0">
              <a:buNone/>
            </a:pPr>
            <a:r>
              <a:rPr lang="en-GB" sz="1200" dirty="0"/>
              <a:t> By considering all key responsibilities, the system provides a more accurate and comprehensive measurement of workload, helping to identify overloaded faculty and ensure fair distribution. Compared to traditional methods, this solution offers improved transparency, supports data-driven decision-making, and introduces innovation through the integration of AI for automated analysis. Additionally, the interactive dashboard enhances usability, making the system practical, scalable, and suitable for real-world implementation.</a:t>
            </a:r>
            <a:endParaRPr lang="en-US" sz="12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400" dirty="0"/>
              <a:t>Data was collected through a </a:t>
            </a:r>
            <a:r>
              <a:rPr lang="en-US" sz="1400" b="1" dirty="0"/>
              <a:t>Google Form questionnaire</a:t>
            </a:r>
            <a:r>
              <a:rPr lang="en-US" sz="1400" dirty="0"/>
              <a:t> from </a:t>
            </a:r>
            <a:r>
              <a:rPr lang="en-US" sz="1400" b="1" dirty="0">
                <a:solidFill>
                  <a:srgbClr val="FF0000"/>
                </a:solidFill>
              </a:rPr>
              <a:t>50 teachers from commerce and management department</a:t>
            </a:r>
            <a:r>
              <a:rPr lang="en-US" sz="1400" dirty="0"/>
              <a:t>. This project uses </a:t>
            </a:r>
            <a:r>
              <a:rPr lang="en-US" sz="1400" b="1" dirty="0"/>
              <a:t>manually collected survey data</a:t>
            </a:r>
            <a:r>
              <a:rPr lang="en-US" sz="1400" dirty="0"/>
              <a:t> without any external APIs or databases</a:t>
            </a:r>
            <a:r>
              <a:rPr lang="en-US" sz="1600" dirty="0"/>
              <a:t>.</a:t>
            </a:r>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r>
              <a:rPr lang="en-US" sz="1400" dirty="0"/>
              <a:t>Cleaned the data using </a:t>
            </a:r>
            <a:r>
              <a:rPr lang="en-US" sz="1400" b="1" dirty="0"/>
              <a:t>Microsoft Excel</a:t>
            </a:r>
            <a:r>
              <a:rPr lang="en-US" sz="1400" dirty="0"/>
              <a:t>- removed duplicates, handled missing values, and standardized the responses into numerical format</a:t>
            </a:r>
            <a:r>
              <a:rPr lang="en-US" sz="1400" dirty="0">
                <a:solidFill>
                  <a:srgbClr val="1A1A2E"/>
                </a:solidFill>
                <a:latin typeface="Lato" panose="020F0502020204030203" pitchFamily="34" charset="0"/>
                <a:cs typeface="Arial" panose="020B0604020202020204" pitchFamily="34" charset="0"/>
              </a:rPr>
              <a:t>. Excel </a:t>
            </a:r>
            <a:r>
              <a:rPr lang="en-US" sz="1400" dirty="0"/>
              <a:t>along with </a:t>
            </a:r>
            <a:r>
              <a:rPr lang="en-US" sz="1400" b="1" dirty="0"/>
              <a:t>Power BI</a:t>
            </a:r>
            <a:r>
              <a:rPr lang="en-US" sz="1400" dirty="0"/>
              <a:t> for visualization and </a:t>
            </a:r>
            <a:r>
              <a:rPr lang="en-US" sz="1400" b="1" dirty="0"/>
              <a:t>Copilot</a:t>
            </a:r>
            <a:r>
              <a:rPr lang="en-US" sz="1400" dirty="0"/>
              <a:t> for insights and </a:t>
            </a:r>
            <a:r>
              <a:rPr lang="en-US" sz="1600" dirty="0"/>
              <a:t>reporting.</a:t>
            </a: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400" b="1" dirty="0"/>
              <a:t>Microsoft Excel </a:t>
            </a:r>
            <a:r>
              <a:rPr lang="en-US" sz="1400" dirty="0"/>
              <a:t>for data cleaning, coding, and initial analysis.. </a:t>
            </a:r>
            <a:r>
              <a:rPr lang="en-US" sz="1400" b="1" dirty="0"/>
              <a:t>Power BI </a:t>
            </a:r>
            <a:r>
              <a:rPr lang="en-US" sz="1400" dirty="0"/>
              <a:t>used to create interactive dashboards and visualizations, while </a:t>
            </a:r>
            <a:r>
              <a:rPr lang="en-US" sz="1400" b="1" dirty="0"/>
              <a:t>Microsoft Copilot </a:t>
            </a:r>
            <a:r>
              <a:rPr lang="en-US" sz="1400" dirty="0"/>
              <a:t>and </a:t>
            </a:r>
            <a:r>
              <a:rPr lang="en-US" sz="1400" b="1" dirty="0"/>
              <a:t>AI chatbots </a:t>
            </a:r>
            <a:r>
              <a:rPr lang="en-US" sz="1400" dirty="0"/>
              <a:t>used for generating insights, interpretations, and report content</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r>
              <a:rPr lang="en-US" sz="1400" dirty="0"/>
              <a:t>The final output includes a </a:t>
            </a:r>
            <a:r>
              <a:rPr lang="en-US" sz="1400" b="1" dirty="0"/>
              <a:t>detailed analytical report generated through copilot showing recommendation also, </a:t>
            </a:r>
            <a:r>
              <a:rPr lang="en-US" sz="1400" dirty="0"/>
              <a:t> along with </a:t>
            </a:r>
            <a:r>
              <a:rPr lang="en-US" sz="1400" b="1" dirty="0"/>
              <a:t>interactive dashboards and charts showing overload and underload faculties </a:t>
            </a:r>
            <a:r>
              <a:rPr lang="en-US" sz="1400" dirty="0"/>
              <a:t> created using Power BI.</a:t>
            </a:r>
            <a:endParaRPr lang="en-US" sz="14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cs typeface="Arial" panose="020B0604020202020204" pitchFamily="34" charset="0"/>
              </a:rPr>
              <a:t>EXCEL {INCLUDING PIVOT}</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algn="ctr"/>
            <a:r>
              <a:rPr lang="en-GB" sz="1400" b="1" dirty="0"/>
              <a:t>The Excel file with pivot tables summarizes faculty workload data, showing distribution across activities and identifying overloaded faculty members for better analysis.”</a:t>
            </a:r>
            <a:endParaRPr lang="en-GB" sz="1400" dirty="0"/>
          </a:p>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cs typeface="Arial" panose="020B0604020202020204" pitchFamily="34" charset="0"/>
              </a:rPr>
              <a:t>COPILOT SUMMARY</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GB" sz="1400" b="1" dirty="0" err="1"/>
              <a:t>Copilot</a:t>
            </a:r>
            <a:r>
              <a:rPr lang="en-GB" sz="1400" b="1" dirty="0"/>
              <a:t> summary highlights key workload insights, identifies overloaded faculty, and provides recommendations for better workload distribution</a:t>
            </a:r>
            <a:r>
              <a:rPr lang="en-GB" sz="1400" dirty="0"/>
              <a:t>.</a:t>
            </a:r>
            <a:endParaRPr lang="en-US" sz="14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cs typeface="Arial" panose="020B0604020202020204" pitchFamily="34" charset="0"/>
              </a:rPr>
              <a:t>POWER BI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GB" sz="1400" b="1" dirty="0"/>
              <a:t>The Power BI dashboard visualizes faculty workload distribution, compares individual workloads, and highlights imbalances using interactive charts and KPIs</a:t>
            </a:r>
            <a:endParaRPr lang="en-US" sz="1400" b="1"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1648237"/>
            <a:ext cx="2788920" cy="320040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1758462"/>
            <a:ext cx="2788920" cy="465201"/>
          </a:xfrm>
          <a:prstGeom prst="rect">
            <a:avLst/>
          </a:prstGeom>
          <a:noFill/>
          <a:ln/>
        </p:spPr>
        <p:txBody>
          <a:bodyPr wrap="square" rtlCol="0" anchor="ctr"/>
          <a:lstStyle/>
          <a:p>
            <a:pPr marL="0" indent="0" algn="ctr">
              <a:buNone/>
            </a:pPr>
            <a:r>
              <a:rPr lang="en-US" sz="1600" b="1" dirty="0">
                <a:latin typeface="Lato" panose="020F0502020204030203" pitchFamily="34" charset="0"/>
                <a:cs typeface="Arial" panose="020B0604020202020204" pitchFamily="34" charset="0"/>
              </a:rPr>
              <a:t>EXCEL {INCLUDING PIVOT}</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1648237"/>
            <a:ext cx="2788920" cy="320040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1758462"/>
            <a:ext cx="2788920" cy="559349"/>
          </a:xfrm>
          <a:prstGeom prst="rect">
            <a:avLst/>
          </a:prstGeom>
          <a:noFill/>
          <a:ln/>
        </p:spPr>
        <p:txBody>
          <a:bodyPr wrap="square" rtlCol="0" anchor="ctr"/>
          <a:lstStyle/>
          <a:p>
            <a:pPr marL="0" indent="0" algn="ctr">
              <a:buNone/>
            </a:pPr>
            <a:r>
              <a:rPr lang="en-US" sz="1600" b="1" dirty="0">
                <a:latin typeface="Lato" panose="020F0502020204030203" pitchFamily="34" charset="0"/>
                <a:cs typeface="Arial" panose="020B0604020202020204" pitchFamily="34" charset="0"/>
              </a:rPr>
              <a:t>COPILOT SUMMARY</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428036"/>
            <a:ext cx="2514600" cy="1863402"/>
          </a:xfrm>
          <a:prstGeom prst="rect">
            <a:avLst/>
          </a:prstGeom>
          <a:noFill/>
          <a:ln/>
        </p:spPr>
        <p:txBody>
          <a:bodyPr wrap="square" rtlCol="0" anchor="ctr"/>
          <a:lstStyle/>
          <a:p>
            <a:pPr marL="0" indent="0" algn="ctr">
              <a:buNone/>
            </a:pPr>
            <a:endParaRPr lang="en-US" sz="14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1648237"/>
            <a:ext cx="2788920" cy="3204002"/>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1758462"/>
            <a:ext cx="2788920" cy="465201"/>
          </a:xfrm>
          <a:prstGeom prst="rect">
            <a:avLst/>
          </a:prstGeom>
          <a:noFill/>
          <a:ln/>
        </p:spPr>
        <p:txBody>
          <a:bodyPr wrap="square" rtlCol="0" anchor="ctr"/>
          <a:lstStyle/>
          <a:p>
            <a:pPr marL="0" indent="0" algn="ctr">
              <a:buNone/>
            </a:pPr>
            <a:r>
              <a:rPr lang="en-US" sz="1600" b="1" dirty="0">
                <a:latin typeface="Lato" panose="020F0502020204030203" pitchFamily="34" charset="0"/>
                <a:cs typeface="Arial" panose="020B0604020202020204" pitchFamily="34" charset="0"/>
              </a:rPr>
              <a:t>POWER BI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400" b="1"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4B932CDC-8952-4D21-94B1-88D885313F6E}"/>
              </a:ext>
            </a:extLst>
          </p:cNvPr>
          <p:cNvPicPr>
            <a:picLocks noChangeAspect="1"/>
          </p:cNvPicPr>
          <p:nvPr/>
        </p:nvPicPr>
        <p:blipFill>
          <a:blip r:embed="rId4"/>
          <a:stretch>
            <a:fillRect/>
          </a:stretch>
        </p:blipFill>
        <p:spPr>
          <a:xfrm>
            <a:off x="355623" y="2345775"/>
            <a:ext cx="2626314" cy="2286515"/>
          </a:xfrm>
          <a:prstGeom prst="rect">
            <a:avLst/>
          </a:prstGeom>
        </p:spPr>
      </p:pic>
      <p:pic>
        <p:nvPicPr>
          <p:cNvPr id="8" name="Picture 7">
            <a:extLst>
              <a:ext uri="{FF2B5EF4-FFF2-40B4-BE49-F238E27FC236}">
                <a16:creationId xmlns:a16="http://schemas.microsoft.com/office/drawing/2014/main" id="{1D2E2417-19CA-479B-A31B-96B26C0F6765}"/>
              </a:ext>
            </a:extLst>
          </p:cNvPr>
          <p:cNvPicPr>
            <a:picLocks noChangeAspect="1"/>
          </p:cNvPicPr>
          <p:nvPr/>
        </p:nvPicPr>
        <p:blipFill>
          <a:blip r:embed="rId5"/>
          <a:stretch>
            <a:fillRect/>
          </a:stretch>
        </p:blipFill>
        <p:spPr>
          <a:xfrm>
            <a:off x="3402482" y="2317811"/>
            <a:ext cx="2514600" cy="2314479"/>
          </a:xfrm>
          <a:prstGeom prst="rect">
            <a:avLst/>
          </a:prstGeom>
        </p:spPr>
      </p:pic>
      <p:pic>
        <p:nvPicPr>
          <p:cNvPr id="22" name="Picture 21">
            <a:extLst>
              <a:ext uri="{FF2B5EF4-FFF2-40B4-BE49-F238E27FC236}">
                <a16:creationId xmlns:a16="http://schemas.microsoft.com/office/drawing/2014/main" id="{B87294DE-70D1-48EE-92AC-CF2C137D569F}"/>
              </a:ext>
            </a:extLst>
          </p:cNvPr>
          <p:cNvPicPr>
            <a:picLocks noChangeAspect="1"/>
          </p:cNvPicPr>
          <p:nvPr/>
        </p:nvPicPr>
        <p:blipFill>
          <a:blip r:embed="rId6"/>
          <a:stretch>
            <a:fillRect/>
          </a:stretch>
        </p:blipFill>
        <p:spPr>
          <a:xfrm>
            <a:off x="6390742" y="2311530"/>
            <a:ext cx="2424074" cy="2224671"/>
          </a:xfrm>
          <a:prstGeom prst="rect">
            <a:avLst/>
          </a:prstGeom>
        </p:spPr>
      </p:pic>
    </p:spTree>
    <p:custDataLst>
      <p:tags r:id="rId1"/>
    </p:custDataLst>
    <p:extLst>
      <p:ext uri="{BB962C8B-B14F-4D97-AF65-F5344CB8AC3E}">
        <p14:creationId xmlns:p14="http://schemas.microsoft.com/office/powerpoint/2010/main" val="1527939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dirty="0"/>
          </a:p>
          <a:p>
            <a:endParaRPr lang="en-IN" dirty="0"/>
          </a:p>
          <a:p>
            <a:r>
              <a:rPr lang="en-IN" dirty="0"/>
              <a:t>https://docs.google.com/presentation/d/1WomrTGGNuB3_RLV1dYS3rDvlKpDu4NO4/edit?usp=sharing&amp;ouid=115957784491685477270&amp;rtpof=true&amp;sd=true</a:t>
            </a:r>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7" name="TextBox 6">
            <a:extLst>
              <a:ext uri="{FF2B5EF4-FFF2-40B4-BE49-F238E27FC236}">
                <a16:creationId xmlns:a16="http://schemas.microsoft.com/office/drawing/2014/main" id="{3A41614D-9586-444E-805A-BA890D094DBF}"/>
              </a:ext>
            </a:extLst>
          </p:cNvPr>
          <p:cNvSpPr txBox="1"/>
          <p:nvPr/>
        </p:nvSpPr>
        <p:spPr>
          <a:xfrm>
            <a:off x="221064" y="1297636"/>
            <a:ext cx="4677342" cy="2308324"/>
          </a:xfrm>
          <a:prstGeom prst="rect">
            <a:avLst/>
          </a:prstGeom>
          <a:noFill/>
        </p:spPr>
        <p:txBody>
          <a:bodyPr wrap="square">
            <a:spAutoFit/>
          </a:bodyPr>
          <a:lstStyle/>
          <a:p>
            <a:r>
              <a:rPr lang="en-GB" dirty="0"/>
              <a:t>This project developed an efficient system to evaluate and analyse  faculty workload by combining data analytics and AI tools. The results highlighted workload disparities and that can enable informed decision-making through interactive dashboards. The project achieved its objectives and adds value by improving fairness, efficiency, and transparency.</a:t>
            </a:r>
            <a:endParaRPr lang="en-IN"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508388" cy="3474720"/>
          </a:xfrm>
          <a:prstGeom prst="rect">
            <a:avLst/>
          </a:prstGeom>
          <a:noFill/>
          <a:ln/>
        </p:spPr>
        <p:txBody>
          <a:bodyPr wrap="square" rtlCol="0" anchor="t"/>
          <a:lstStyle/>
          <a:p>
            <a:pPr marL="0" indent="0">
              <a:buNone/>
            </a:pPr>
            <a:r>
              <a:rPr lang="en-GB" sz="1600" dirty="0"/>
              <a:t>In the future, this project can be enhanced by integrating real-time data updates using APIs or automation tools to enable continuous workload monitoring. Advanced techniques such as machine learning can be applied for workload prediction and anomaly detection. The system can also be expanded by developing a user-friendly web or Power Apps interface for wider accessibility. Additionally, integration with institutional databases and inclusion of more parameters like performance metrics and student feedback can further improve accuracy and scalability, making the solution more suitable for real-world implementation</a:t>
            </a:r>
            <a:endParaRPr lang="en-US" sz="16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1021</Words>
  <Application>Microsoft Office PowerPoint</Application>
  <PresentationFormat>On-screen Show (16:9)</PresentationFormat>
  <Paragraphs>97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Gagan deep chadha</cp:lastModifiedBy>
  <cp:revision>37</cp:revision>
  <dcterms:created xsi:type="dcterms:W3CDTF">2026-02-18T09:17:23Z</dcterms:created>
  <dcterms:modified xsi:type="dcterms:W3CDTF">2026-04-15T18:55:12Z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